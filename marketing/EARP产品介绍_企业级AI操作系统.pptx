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开场白：感谢各位到场。今天用约 30 分钟介绍 EARP——企业级 AI 操作系统。先给结论：企业 AI 落地难，难不在模型，而在让 AI 可信、可控、可落地。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本次分享分五个部分：理念定位、能力全景、数据智能五件套、平台核心能力、行业落地与合作。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三个现实：接不通、不敢信、不闭环。请记住 20% / 80% 这个数字——LLM 只占企业 AI 工作量 20%，其余 80% 是集成、编排、治理、审计。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分水岭：通用平台以模型为中心，EARP 以业务能力为中心。模型会换，能力长青。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类比：Linux 管硬件、JVM 管字节码，EARP 管企业 AI 执行。一句话定义：理解任务-规划-决策-执行-反馈-学习。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研发初衷：从四类角色的真实痛点出发——业务人员要自然语言问数，数据部门要口径统一，运营要闭环，IT 要可控。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三大设计原则：统一执行入口（Runtime First）、先懂业务再调能力（Domain First）、推理与执行分离（Reason-Act）。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六个维度对比通用平台：设计起点、核心抽象、权限审计、系统集成、知识资产、执行可靠性。EARP 不是替代，是下一层。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三方共赢：企业客户降门槛、渠道集成商可复制交付、生态伙伴能力资产化。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一张图看懂：数据智能层（五件套）+ 平台核心层（五项底座）+ 开放生态层（SDK/插件/可观测）。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执行闭环六环节：理解-规划-决策-执行-反馈-学习，越用越聪明；统一治理、可观测、补偿。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双核驱动是五件套的设计内核：大模型负责理解表达，BI 引擎负责精确计算与权限，缺一不可。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可信问数：业务人员一句话查数。关键在“可信”——同一指标全公司口径一致，消除同名不同义。案例：制造集团财务部提数从 2 天到 10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智能归因：销售额下降 12%，系统拆解出客户流失 -5.2%、促销效率 -3.8%、季节性 -2.1%。从“看到问题”到“理解原因”。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洞察预测：不是玄学，是统计模型。华东仓 A 产品 21 天后低于安全库存，提前触发补货。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一言成报：输入一句话，自动取数、图表、结论，输出完整报告。月度经营分析报告从 1-2 天到 10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智策看板：会对话、可追问的活看板。区别于传统 BI 静态展示，异常自动解读、可下钻到原因。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五件套串联：问数→归因→预测→成报→看板，一条链走完经营闭环。叠加在既有数据底座之上，是升级不是推倒重来。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知识资产中心：文档 + 实体图谱双知识体系，三层检索融合，答案有出处可溯源。案例：CNC 设备报警处理。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智能体编排：断点续跑、自动重试、超时熔断、事务补偿。多系统对账 3 天到 30 分钟，不留半成品。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多模型接入：按场景选模型、一套平台调度，不绑定单一厂商，支持私有化。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安全治理：租户隔离、分级权限、全链路审计、数据脱敏——满足等保、内审、监管留痕。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自动化调度：定时 + 事件驱动，AI 7×24 运转。从“人找 AI”到“AI 找人”。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开放生态：五大 SDK，伙伴三天开发一个新能力，能力即资产，一次开发多客户复用。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系统集成：REST/数据库/MCP/插件沙箱，ERP、MES、政务系统一次接通，不推倒重来。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可观测与闭环进化：全程留痕可解释，反馈学习让系统越用越懂业务。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工业制造·供应链（客户实践）：库存调拨、多系统对账、物流改派，把 Excel 拉锯战变成自动决策。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工业制造·生产运营（客户实践）：预测性维护提前预警，产销协同供需对齐。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政务（示例场景）：政策咨询秒答、公文材料辅助、热线工单智能分派。具体效果以实际项目为准。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交通（示例场景）：路网监测问答、出行信息服务、运营指标归因。具体效果以实际项目为准。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三种合作方式：渠道代理、联合方案、能力共建。提供培训、样板、联合市场、技术支持全流程支持。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结尾：三步走——试点 2-4 周 POC、核心推广、规模化复制。欢迎联系洽谈，开启企业 AI 之旅。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0047AB">
              <a:alpha val="12000"/>
            </a:srgbClr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291840"/>
            <a:ext cx="3108960" cy="310896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937760"/>
            <a:ext cx="2743200" cy="27432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180" kern="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ENTERPRISE AI RUNTIME PLATFORM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133A78"/>
          </a:solidFill>
          <a:ln w="12700">
            <a:solidFill>
              <a:srgbClr val="3E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128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spc="100" kern="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企业级 AI 操作系统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让企业 AI 可信、可控、可落地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39502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面向企业场景的智能体开发、调度与运行底座 —— 把大模型真正变成业务生产力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多模型编排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459736" y="5221224"/>
            <a:ext cx="73152" cy="7315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业务能力中心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08576" y="5221224"/>
            <a:ext cx="73152" cy="7315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知识资产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57416" y="5221224"/>
            <a:ext cx="73152" cy="7315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安全合规治理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产品介绍 · 商务宣讲版   2026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57255" y="502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95792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95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 · 内容导览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本次分享，五个部分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从理念到落地，30 分钟看懂 EARP 能为你解决什么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38728" cy="1627632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50008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505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55848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22376" y="29260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重新认识 AI 平台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22376" y="32644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理念与定位：企业 AI 难在 80% 的“模型之外”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25112" y="2148840"/>
            <a:ext cx="3538728" cy="1627632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350008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45059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544568" y="29260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一张图看懂 EARP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544568" y="32644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能力全景：核心刚需 + 增值赋能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47304" y="2148840"/>
            <a:ext cx="3538728" cy="1627632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66760" y="2350008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45059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000232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366760" y="29260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数据智能五件套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66760" y="32644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从问数到决策：五个立即可用的业务场景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02920" y="4069080"/>
            <a:ext cx="3538728" cy="1627632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2376" y="4270248"/>
            <a:ext cx="457200" cy="457200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7083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355848" y="4233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22376" y="4846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平台核心能力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722376" y="5184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可信、可控、可落地：知识与执行的安全底座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325112" y="4069080"/>
            <a:ext cx="3538728" cy="1627632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44568" y="4270248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37083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178040" y="4233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4544568" y="4846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行业落地与合作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4544568" y="5184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客户实践与示例场景，以及三种合作方式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8147304" y="4069080"/>
            <a:ext cx="3538728" cy="1627632"/>
          </a:xfrm>
          <a:prstGeom prst="roundRect">
            <a:avLst>
              <a:gd name="adj" fmla="val 2528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8366760" y="42519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你将收获</a:t>
            </a:r>
            <a:endParaRPr lang="en-US" sz="1550" dirty="0"/>
          </a:p>
        </p:txBody>
      </p:sp>
      <p:sp>
        <p:nvSpPr>
          <p:cNvPr id="38" name="Text 31"/>
          <p:cNvSpPr/>
          <p:nvPr/>
        </p:nvSpPr>
        <p:spPr>
          <a:xfrm>
            <a:off x="8366760" y="4690872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一套可复制的 AI 落地方法论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五种立即可用的数据智能场景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三种与 EARP 合作共赢的方式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502920" y="589788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本材料案例均已标注：■ 客户实践  ■ 示例场景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 / 32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0668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530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开场 · 直面现实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企业 AI 落地的三大现实：80% 的精力，消耗在模型之外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大模型本身不是瓶颈 —— 集成、编排、治理、审计，才是企业真正要翻的墙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38728" cy="25146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77440"/>
            <a:ext cx="493776" cy="49377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07" y="2486071"/>
            <a:ext cx="276515" cy="2765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" y="2999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接不通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22376" y="349300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模型多、系统杂：每个应用都要重复对接大模型与企业系统，项目迟迟跑不起来。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5112" y="2148840"/>
            <a:ext cx="3538728" cy="25146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377440"/>
            <a:ext cx="493776" cy="493776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199" y="2486071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2999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不敢信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44568" y="349300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答非所问、无权限管控、无审计留痕，业务部门不敢把真业务交给 AI。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47304" y="2148840"/>
            <a:ext cx="3538728" cy="25146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377440"/>
            <a:ext cx="493776" cy="49377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91" y="2486071"/>
            <a:ext cx="276515" cy="2765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2999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不闭环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66760" y="349300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问完就完、结果不沉淀，AI 没有沉淀成可复用的业务能力。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02920" y="5029200"/>
            <a:ext cx="11185855" cy="1143000"/>
          </a:xfrm>
          <a:prstGeom prst="roundRect">
            <a:avLst>
              <a:gd name="adj" fmla="val 3600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2960" y="519379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20%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228600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LLM 在企业场景只占 20% 的工作量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2286000" y="56692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其余 80% 是集成、编排、治理与审计 —— 这正是 EARP 的价值所在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 / 32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53173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253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开场 · 破题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平台的分水岭：以模型为中心，还是以业务能力为中心？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模型会换、会升级；业务能力，才是企业长期沉淀的资产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40680" cy="2880360"/>
          </a:xfrm>
          <a:prstGeom prst="roundRect">
            <a:avLst>
              <a:gd name="adj" fmla="val 1429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通用 AI 平台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49040" y="2404872"/>
            <a:ext cx="137223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404872"/>
            <a:ext cx="13722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 LLM 为中心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4892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对话思维，难以直达业务结果</a:t>
            </a:r>
            <a:endParaRPr lang="en-US" sz="13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工具零散接入，能力不可治理</a:t>
            </a:r>
            <a:endParaRPr lang="en-US" sz="13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权限与审计事后补丁，合规存疑</a:t>
            </a:r>
            <a:endParaRPr lang="en-US" sz="13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与企业系统集成浅，落地隔层纱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45352" y="2148840"/>
            <a:ext cx="5440680" cy="28803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0047AB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71432" y="2404872"/>
            <a:ext cx="1518920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2404872"/>
            <a:ext cx="151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以业务能力为中心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9672" y="2926080"/>
            <a:ext cx="4892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先懂业务领域，再调用业务能力</a:t>
            </a:r>
            <a:endParaRPr lang="en-US" sz="13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能力统一注册、统一治理、可复用</a:t>
            </a:r>
            <a:endParaRPr lang="en-US" sz="13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权限与审计内建于运行时，天然合规</a:t>
            </a:r>
            <a:endParaRPr lang="en-US" sz="13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与 ERP / MES / 政务系统原生对接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349240"/>
            <a:ext cx="11185855" cy="822960"/>
          </a:xfrm>
          <a:prstGeom prst="roundRect">
            <a:avLst>
              <a:gd name="adj" fmla="val 5000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349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以业务能力为中心，AI 才能真正嵌入企业经营 —— 而不是停留在演示 Demo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 / 32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53173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253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理念 · 定位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像操作系统管理硬件一样，EARP 管理企业 AI 的执行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操作系统不生产硬件，却让一切软件跑起来 —— EARP 在企业 AI 中的角色正是如此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1185855" cy="886968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86584"/>
            <a:ext cx="420624" cy="42062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13" y="2479121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276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Linux 内核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6243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管理硬件资源，为应用软件提供运行环境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172968"/>
            <a:ext cx="11185855" cy="886968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2376" y="3410712"/>
            <a:ext cx="420624" cy="42062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13" y="3503249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3300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Java 虚拟机（JVM）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371600" y="3648456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管理字节码执行，为 Java 程序提供运行时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4197096"/>
            <a:ext cx="11185855" cy="886968"/>
          </a:xfrm>
          <a:prstGeom prst="roundRect">
            <a:avLst>
              <a:gd name="adj" fmla="val 4639"/>
            </a:avLst>
          </a:prstGeom>
          <a:solidFill>
            <a:srgbClr val="E7EFFB"/>
          </a:solidFill>
          <a:ln w="12700">
            <a:solidFill>
              <a:srgbClr val="0047AB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2376" y="4434840"/>
            <a:ext cx="420624" cy="420624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13" y="4527377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4325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AI 运行时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71600" y="467258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管理企业 AI 执行，为 AI 应用提供运行时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677095" y="4453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→ 这就是 EARP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02920" y="5349240"/>
            <a:ext cx="11185855" cy="1143000"/>
          </a:xfrm>
          <a:prstGeom prst="roundRect">
            <a:avLst>
              <a:gd name="adj" fmla="val 3600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5504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= Enterprise AI Runtime Platform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22960" y="588873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面向企业场景的 AI 运行时底座：理解任务 → 规划任务 → 决策 → 执行 → 反馈 → 学习，形成持续进化的业务闭环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 / 32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0668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530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理念 · 研发初衷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从企业真实工作流出发，而不是从大模型出发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四类角色的共同痛点，催生了这个平台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40680" cy="15727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50008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505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3682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业务人员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371600" y="275234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想用自然语言问数、要结果 —— 不想写 SQL，不想等 IT 排期。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45352" y="2148840"/>
            <a:ext cx="5440680" cy="15727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2350008"/>
            <a:ext cx="457200" cy="457200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45059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14032" y="23682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数据部门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114032" y="275234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指标口径必须统一、可审计 —— “同名不同义”是问数第一坑。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3995928"/>
            <a:ext cx="5440680" cy="15727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2376" y="4197096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9768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42153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运营团队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371600" y="459943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告警要自动归因、自动闭环 —— 从看到问题到解决问题一条链。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45352" y="3995928"/>
            <a:ext cx="5440680" cy="15727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64808" y="4197096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2976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14032" y="42153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IT 部门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114032" y="459943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要可控、可管、可审计 —— 权限隔离，不被单一模型绑定。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02920" y="5349240"/>
            <a:ext cx="11185855" cy="822960"/>
          </a:xfrm>
          <a:prstGeom prst="roundRect">
            <a:avLst>
              <a:gd name="adj" fmla="val 50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2920" y="5349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2024–2025 市场上不缺 AI 平台，缺的是把 AI 融进企业业务流程的运行时 —— 这就是 EARP 的起点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06 / 32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0668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530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理念 · 设计原则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三大设计原则，回答「AI 凭什么可信、可控」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平台规范先行，能力来自规则而非运气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38728" cy="30175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77440"/>
            <a:ext cx="512064" cy="51206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30" y="2490094"/>
            <a:ext cx="286756" cy="286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统一执行入口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22376" y="34198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Runtime First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22376" y="3785616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所有 AI 执行都走同一个运行时：权限、审计、重试、补偿自动生效，应用不再各造轮子。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25112" y="2148840"/>
            <a:ext cx="3538728" cy="30175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377440"/>
            <a:ext cx="512064" cy="51206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222" y="2490094"/>
            <a:ext cx="286756" cy="2867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44568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先懂业务再调能力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544568" y="34198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Domain First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44568" y="3785616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先理解业务领域，再在领域内调用能力：检索准确率从 60% 提升到 95% 以上。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47304" y="2148840"/>
            <a:ext cx="3538728" cy="30175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66760" y="2377440"/>
            <a:ext cx="512064" cy="51206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414" y="2490094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676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推理与执行分离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366760" y="34198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Reason-Act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366760" y="3785616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规划可以聪明试错、持续升级；执行必须稳定可靠，两者互不拖累。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02920" y="5440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还有六项原则：企业级 CQRS（查询只读 / 命令必经审批） · 闭环学习 · 工作流即执行模式 · 多租户隔离 · 全链路审计 · 开放平台规范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07 / 32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9192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39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理念 · 差异化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为什么不是「企业版 Dify」：六个维度，本质不同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通用 AI 平台解决「能不能做」，EARP 解决「企业敢不敢用、能不能持续用」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1920240" cy="475488"/>
          </a:xfrm>
          <a:prstGeom prst="roundRect">
            <a:avLst>
              <a:gd name="adj" fmla="val 8654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848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维度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2084832"/>
            <a:ext cx="4480560" cy="475488"/>
          </a:xfrm>
          <a:prstGeom prst="roundRect">
            <a:avLst>
              <a:gd name="adj" fmla="val 8654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0848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通用 AI 平台（Dify / Coze 等）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86600" y="2084832"/>
            <a:ext cx="4599432" cy="475488"/>
          </a:xfrm>
          <a:prstGeom prst="roundRect">
            <a:avLst>
              <a:gd name="adj" fmla="val 8654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084832"/>
            <a:ext cx="4599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1920240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设计起点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2633472"/>
            <a:ext cx="4480560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63347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 LLM 为中心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86600" y="2633472"/>
            <a:ext cx="4599432" cy="512064"/>
          </a:xfrm>
          <a:prstGeom prst="roundRect">
            <a:avLst>
              <a:gd name="adj" fmla="val 8036"/>
            </a:avLst>
          </a:prstGeom>
          <a:solidFill>
            <a:srgbClr val="E7EFFB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633472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以业务能力为中心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218688"/>
            <a:ext cx="1920240" cy="512064"/>
          </a:xfrm>
          <a:prstGeom prst="roundRect">
            <a:avLst>
              <a:gd name="adj" fmla="val 8036"/>
            </a:avLst>
          </a:prstGeom>
          <a:solidFill>
            <a:srgbClr val="F2F6FC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186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核心抽象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14600" y="3218688"/>
            <a:ext cx="4480560" cy="512064"/>
          </a:xfrm>
          <a:prstGeom prst="roundRect">
            <a:avLst>
              <a:gd name="adj" fmla="val 8036"/>
            </a:avLst>
          </a:prstGeom>
          <a:solidFill>
            <a:srgbClr val="F2F6FC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21868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App → Workflow → Tool → LLM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86600" y="3218688"/>
            <a:ext cx="4599432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3218688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Request → 领域 → 能力 → 企业系统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803904"/>
            <a:ext cx="1920240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0390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权限与审计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3803904"/>
            <a:ext cx="4480560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80390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事后补丁，合规存疑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86600" y="3803904"/>
            <a:ext cx="4599432" cy="512064"/>
          </a:xfrm>
          <a:prstGeom prst="roundRect">
            <a:avLst>
              <a:gd name="adj" fmla="val 8036"/>
            </a:avLst>
          </a:prstGeom>
          <a:solidFill>
            <a:srgbClr val="E7EFFB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803904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内建于运行时，全链路留痕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389120"/>
            <a:ext cx="1920240" cy="512064"/>
          </a:xfrm>
          <a:prstGeom prst="roundRect">
            <a:avLst>
              <a:gd name="adj" fmla="val 8036"/>
            </a:avLst>
          </a:prstGeom>
          <a:solidFill>
            <a:srgbClr val="F2F6FC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891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系统集成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4389120"/>
            <a:ext cx="4480560" cy="512064"/>
          </a:xfrm>
          <a:prstGeom prst="roundRect">
            <a:avLst>
              <a:gd name="adj" fmla="val 8036"/>
            </a:avLst>
          </a:prstGeom>
          <a:solidFill>
            <a:srgbClr val="F2F6FC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438912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插件零散对接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086600" y="4389120"/>
            <a:ext cx="4599432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4389120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标准连接器 + MCP，一次接通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4974336"/>
            <a:ext cx="1920240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9743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知识资产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14600" y="4974336"/>
            <a:ext cx="4480560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497433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文档问答为主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086600" y="4974336"/>
            <a:ext cx="4599432" cy="512064"/>
          </a:xfrm>
          <a:prstGeom prst="roundRect">
            <a:avLst>
              <a:gd name="adj" fmla="val 8036"/>
            </a:avLst>
          </a:prstGeom>
          <a:solidFill>
            <a:srgbClr val="E7EFFB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4974336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文档 RAG + 业务实体图谱双体系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" y="5559552"/>
            <a:ext cx="1920240" cy="512064"/>
          </a:xfrm>
          <a:prstGeom prst="roundRect">
            <a:avLst>
              <a:gd name="adj" fmla="val 8036"/>
            </a:avLst>
          </a:prstGeom>
          <a:solidFill>
            <a:srgbClr val="F2F6FC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55595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执行可靠性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14600" y="5559552"/>
            <a:ext cx="4480560" cy="512064"/>
          </a:xfrm>
          <a:prstGeom prst="roundRect">
            <a:avLst>
              <a:gd name="adj" fmla="val 8036"/>
            </a:avLst>
          </a:prstGeom>
          <a:solidFill>
            <a:srgbClr val="F2F6FC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555955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单步调用为主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086600" y="5559552"/>
            <a:ext cx="4599432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6350">
            <a:solidFill>
              <a:srgbClr val="D8E2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5559552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断点续跑 · 重试 · 事务补偿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605332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兼容主流大模型与工具生态 —— 与通用平台不是替代关系，而是企业落地的下一层。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08 / 32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53173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253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理念 · 赋能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一套平台，三方共赢：我们为谁解决什么问题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价值不是口号，而是三个群体都能算得清的收益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38728" cy="3200400"/>
          </a:xfrm>
          <a:prstGeom prst="roundRect">
            <a:avLst>
              <a:gd name="adj" fmla="val 1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77440"/>
            <a:ext cx="493776" cy="49377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07" y="2486071"/>
            <a:ext cx="276515" cy="2765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企业客户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22376" y="3364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 AI 真正进入日常经营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22376" y="3785616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落地门槛低：业务人员直接使用</a:t>
            </a:r>
            <a:endParaRPr lang="en-US" sz="12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结果可信合规：口径统一、有据可查</a:t>
            </a:r>
            <a:endParaRPr lang="en-US" sz="12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见效快：2–4 周试点出价值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25112" y="2148840"/>
            <a:ext cx="3538728" cy="3200400"/>
          </a:xfrm>
          <a:prstGeom prst="roundRect">
            <a:avLst>
              <a:gd name="adj" fmla="val 1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377440"/>
            <a:ext cx="493776" cy="493776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199" y="2486071"/>
            <a:ext cx="276515" cy="2765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44568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渠道与集成商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544568" y="3364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让交付变成可复制的生意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44568" y="3785616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标准产品 + 开放 SDK，交付可复制</a:t>
            </a:r>
            <a:endParaRPr lang="en-US" sz="12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行业方案叠加，客单价提升</a:t>
            </a:r>
            <a:endParaRPr lang="en-US" sz="12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持续的服务与扩展收入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47304" y="2148840"/>
            <a:ext cx="3538728" cy="3200400"/>
          </a:xfrm>
          <a:prstGeom prst="roundRect">
            <a:avLst>
              <a:gd name="adj" fmla="val 1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66760" y="2377440"/>
            <a:ext cx="493776" cy="49377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91" y="2486071"/>
            <a:ext cx="276515" cy="2765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676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生态伙伴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366760" y="3364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让能力变成共享的资产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366760" y="3785616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能力即插即用，快速封装上线</a:t>
            </a:r>
            <a:endParaRPr lang="en-US" sz="12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联合方案进市场，共享收益</a:t>
            </a:r>
            <a:endParaRPr lang="en-US" sz="1250" dirty="0"/>
          </a:p>
          <a:p>
            <a:pPr algn="l"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技术认证与市场支持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02920" y="5577840"/>
            <a:ext cx="11185855" cy="685800"/>
          </a:xfrm>
          <a:prstGeom prst="roundRect">
            <a:avLst>
              <a:gd name="adj" fmla="val 6000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" y="55778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把复杂留给自己，把简单交付给伙伴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09 / 32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9192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39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全景 · 一张图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一张图看懂 EARP：核心刚需 + 增值赋能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三大层次、十三个模块，覆盖从问数到治理的完整闭环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1463040" cy="1371600"/>
          </a:xfrm>
          <a:prstGeom prst="roundRect">
            <a:avLst>
              <a:gd name="adj" fmla="val 3000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13969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2220163"/>
            <a:ext cx="204826" cy="204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257860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" y="2907792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核心刚需 · 业务直接使用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94560" y="2011680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22576" y="2130552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020" y="2206996"/>
            <a:ext cx="194584" cy="1945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22576" y="2542032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可信问数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322576" y="2852928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一句话查数，口径一致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33637" y="2011680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61653" y="2130552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096" y="2206996"/>
            <a:ext cx="194584" cy="1945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61653" y="2542032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智能归因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261653" y="2852928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指标波动自动拆解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072713" y="2011680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00729" y="2130552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173" y="2206996"/>
            <a:ext cx="194584" cy="1945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00729" y="2542032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洞察预测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200729" y="2852928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趋势预判，提前决策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011790" y="2011680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139806" y="2130552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250" y="2206996"/>
            <a:ext cx="194584" cy="1945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139806" y="2542032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一言成报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139806" y="2852928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一句话生成分析报告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9950867" y="2011680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078883" y="2130552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5326" y="2206996"/>
            <a:ext cx="194584" cy="1945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078883" y="2542032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智策看板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0078883" y="2852928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可追问的活看板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502920" y="3529584"/>
            <a:ext cx="1463040" cy="1371600"/>
          </a:xfrm>
          <a:prstGeom prst="roundRect">
            <a:avLst>
              <a:gd name="adj" fmla="val 3000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9224" y="36576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" y="3738067"/>
            <a:ext cx="204826" cy="20482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12648" y="409651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平台核心层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12648" y="4425696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核心刚需 · 可信可控底座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2194560" y="3529584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2322576" y="3648456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9020" y="3724900"/>
            <a:ext cx="194584" cy="19458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2322576" y="4059936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知识资产中心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2322576" y="4370832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文档 + 实体图谱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>
            <a:off x="4133637" y="3529584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4261653" y="3648456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8096" y="3724900"/>
            <a:ext cx="194584" cy="19458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4261653" y="4059936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智能体编排</a:t>
            </a:r>
            <a:endParaRPr lang="en-US" sz="1150" dirty="0"/>
          </a:p>
        </p:txBody>
      </p:sp>
      <p:sp>
        <p:nvSpPr>
          <p:cNvPr id="50" name="Text 39"/>
          <p:cNvSpPr/>
          <p:nvPr/>
        </p:nvSpPr>
        <p:spPr>
          <a:xfrm>
            <a:off x="4261653" y="4370832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断点续跑 / 补偿</a:t>
            </a:r>
            <a:endParaRPr lang="en-US" sz="950" dirty="0"/>
          </a:p>
        </p:txBody>
      </p:sp>
      <p:sp>
        <p:nvSpPr>
          <p:cNvPr id="51" name="Shape 40"/>
          <p:cNvSpPr/>
          <p:nvPr/>
        </p:nvSpPr>
        <p:spPr>
          <a:xfrm>
            <a:off x="6072713" y="3529584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6200729" y="3648456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7173" y="3724900"/>
            <a:ext cx="194584" cy="194584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200729" y="4059936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多模型接入</a:t>
            </a:r>
            <a:endParaRPr lang="en-US" sz="1150" dirty="0"/>
          </a:p>
        </p:txBody>
      </p:sp>
      <p:sp>
        <p:nvSpPr>
          <p:cNvPr id="55" name="Text 43"/>
          <p:cNvSpPr/>
          <p:nvPr/>
        </p:nvSpPr>
        <p:spPr>
          <a:xfrm>
            <a:off x="6200729" y="4370832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不绑定单一厂商</a:t>
            </a:r>
            <a:endParaRPr lang="en-US" sz="950" dirty="0"/>
          </a:p>
        </p:txBody>
      </p:sp>
      <p:sp>
        <p:nvSpPr>
          <p:cNvPr id="56" name="Shape 44"/>
          <p:cNvSpPr/>
          <p:nvPr/>
        </p:nvSpPr>
        <p:spPr>
          <a:xfrm>
            <a:off x="8011790" y="3529584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8139806" y="3648456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6250" y="3724900"/>
            <a:ext cx="194584" cy="194584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8139806" y="4059936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安全治理</a:t>
            </a:r>
            <a:endParaRPr lang="en-US" sz="1150" dirty="0"/>
          </a:p>
        </p:txBody>
      </p:sp>
      <p:sp>
        <p:nvSpPr>
          <p:cNvPr id="60" name="Text 47"/>
          <p:cNvSpPr/>
          <p:nvPr/>
        </p:nvSpPr>
        <p:spPr>
          <a:xfrm>
            <a:off x="8139806" y="4370832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隔离 / 权限 / 审计</a:t>
            </a:r>
            <a:endParaRPr lang="en-US" sz="950" dirty="0"/>
          </a:p>
        </p:txBody>
      </p:sp>
      <p:sp>
        <p:nvSpPr>
          <p:cNvPr id="61" name="Shape 48"/>
          <p:cNvSpPr/>
          <p:nvPr/>
        </p:nvSpPr>
        <p:spPr>
          <a:xfrm>
            <a:off x="9950867" y="3529584"/>
            <a:ext cx="173790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2" name="Shape 49"/>
          <p:cNvSpPr/>
          <p:nvPr/>
        </p:nvSpPr>
        <p:spPr>
          <a:xfrm>
            <a:off x="10078883" y="3648456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55326" y="3724900"/>
            <a:ext cx="194584" cy="194584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10078883" y="4059936"/>
            <a:ext cx="1481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自动化调度</a:t>
            </a:r>
            <a:endParaRPr lang="en-US" sz="1150" dirty="0"/>
          </a:p>
        </p:txBody>
      </p:sp>
      <p:sp>
        <p:nvSpPr>
          <p:cNvPr id="65" name="Text 51"/>
          <p:cNvSpPr/>
          <p:nvPr/>
        </p:nvSpPr>
        <p:spPr>
          <a:xfrm>
            <a:off x="10078883" y="4370832"/>
            <a:ext cx="1481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定时 + 事件触发</a:t>
            </a:r>
            <a:endParaRPr lang="en-US" sz="950" dirty="0"/>
          </a:p>
        </p:txBody>
      </p:sp>
      <p:sp>
        <p:nvSpPr>
          <p:cNvPr id="66" name="Shape 52"/>
          <p:cNvSpPr/>
          <p:nvPr/>
        </p:nvSpPr>
        <p:spPr>
          <a:xfrm>
            <a:off x="502920" y="5047488"/>
            <a:ext cx="1463040" cy="1371600"/>
          </a:xfrm>
          <a:prstGeom prst="roundRect">
            <a:avLst>
              <a:gd name="adj" fmla="val 30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>
            <a:off x="649224" y="517550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691" y="5255971"/>
            <a:ext cx="204826" cy="204826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612648" y="561441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开放生态层</a:t>
            </a:r>
            <a:endParaRPr lang="en-US" sz="1300" dirty="0"/>
          </a:p>
        </p:txBody>
      </p:sp>
      <p:sp>
        <p:nvSpPr>
          <p:cNvPr id="70" name="Text 55"/>
          <p:cNvSpPr/>
          <p:nvPr/>
        </p:nvSpPr>
        <p:spPr>
          <a:xfrm>
            <a:off x="612648" y="59436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增值赋能 · 伙伴共建</a:t>
            </a:r>
            <a:endParaRPr lang="en-US" sz="950" dirty="0"/>
          </a:p>
        </p:txBody>
      </p:sp>
      <p:sp>
        <p:nvSpPr>
          <p:cNvPr id="71" name="Shape 56"/>
          <p:cNvSpPr/>
          <p:nvPr/>
        </p:nvSpPr>
        <p:spPr>
          <a:xfrm>
            <a:off x="2194560" y="5047488"/>
            <a:ext cx="3030626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2" name="Shape 57"/>
          <p:cNvSpPr/>
          <p:nvPr/>
        </p:nvSpPr>
        <p:spPr>
          <a:xfrm>
            <a:off x="2322576" y="5166360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7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99020" y="5242804"/>
            <a:ext cx="194584" cy="194584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2322576" y="5577840"/>
            <a:ext cx="27745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五大 SDK</a:t>
            </a:r>
            <a:endParaRPr lang="en-US" sz="1150" dirty="0"/>
          </a:p>
        </p:txBody>
      </p:sp>
      <p:sp>
        <p:nvSpPr>
          <p:cNvPr id="75" name="Text 59"/>
          <p:cNvSpPr/>
          <p:nvPr/>
        </p:nvSpPr>
        <p:spPr>
          <a:xfrm>
            <a:off x="2322576" y="5888736"/>
            <a:ext cx="2774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能力三天封装上线</a:t>
            </a:r>
            <a:endParaRPr lang="en-US" sz="950" dirty="0"/>
          </a:p>
        </p:txBody>
      </p:sp>
      <p:sp>
        <p:nvSpPr>
          <p:cNvPr id="76" name="Shape 60"/>
          <p:cNvSpPr/>
          <p:nvPr/>
        </p:nvSpPr>
        <p:spPr>
          <a:xfrm>
            <a:off x="5426354" y="5047488"/>
            <a:ext cx="3030626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7" name="Shape 61"/>
          <p:cNvSpPr/>
          <p:nvPr/>
        </p:nvSpPr>
        <p:spPr>
          <a:xfrm>
            <a:off x="5554370" y="5166360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7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30814" y="5242804"/>
            <a:ext cx="194584" cy="194584"/>
          </a:xfrm>
          <a:prstGeom prst="rect">
            <a:avLst/>
          </a:prstGeom>
        </p:spPr>
      </p:pic>
      <p:sp>
        <p:nvSpPr>
          <p:cNvPr id="79" name="Text 62"/>
          <p:cNvSpPr/>
          <p:nvPr/>
        </p:nvSpPr>
        <p:spPr>
          <a:xfrm>
            <a:off x="5554370" y="5577840"/>
            <a:ext cx="27745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插件与 MCP</a:t>
            </a:r>
            <a:endParaRPr lang="en-US" sz="1150" dirty="0"/>
          </a:p>
        </p:txBody>
      </p:sp>
      <p:sp>
        <p:nvSpPr>
          <p:cNvPr id="80" name="Text 63"/>
          <p:cNvSpPr/>
          <p:nvPr/>
        </p:nvSpPr>
        <p:spPr>
          <a:xfrm>
            <a:off x="5554370" y="5888736"/>
            <a:ext cx="2774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对接存量系统</a:t>
            </a:r>
            <a:endParaRPr lang="en-US" sz="950" dirty="0"/>
          </a:p>
        </p:txBody>
      </p:sp>
      <p:sp>
        <p:nvSpPr>
          <p:cNvPr id="81" name="Shape 64"/>
          <p:cNvSpPr/>
          <p:nvPr/>
        </p:nvSpPr>
        <p:spPr>
          <a:xfrm>
            <a:off x="8658149" y="5047488"/>
            <a:ext cx="3030626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82" name="Shape 65"/>
          <p:cNvSpPr/>
          <p:nvPr/>
        </p:nvSpPr>
        <p:spPr>
          <a:xfrm>
            <a:off x="8786165" y="5166360"/>
            <a:ext cx="347472" cy="34747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2609" y="5242804"/>
            <a:ext cx="194584" cy="194584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8786165" y="5577840"/>
            <a:ext cx="27745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可观测闭环</a:t>
            </a:r>
            <a:endParaRPr lang="en-US" sz="1150" dirty="0"/>
          </a:p>
        </p:txBody>
      </p:sp>
      <p:sp>
        <p:nvSpPr>
          <p:cNvPr id="85" name="Text 67"/>
          <p:cNvSpPr/>
          <p:nvPr/>
        </p:nvSpPr>
        <p:spPr>
          <a:xfrm>
            <a:off x="8786165" y="5888736"/>
            <a:ext cx="2774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全程留痕、越用越聪明</a:t>
            </a:r>
            <a:endParaRPr lang="en-US" sz="950" dirty="0"/>
          </a:p>
        </p:txBody>
      </p:sp>
      <p:sp>
        <p:nvSpPr>
          <p:cNvPr id="86" name="Text 68"/>
          <p:cNvSpPr/>
          <p:nvPr/>
        </p:nvSpPr>
        <p:spPr>
          <a:xfrm>
            <a:off x="502920" y="641908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数据智能层叠加在既有数据底座 / BI 之上 —— 对企业现有投入是「升级」，不是「推倒重来」</a:t>
            </a:r>
            <a:endParaRPr lang="en-US" sz="1100" dirty="0"/>
          </a:p>
        </p:txBody>
      </p:sp>
      <p:sp>
        <p:nvSpPr>
          <p:cNvPr id="87" name="Text 6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88" name="Text 70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10 / 32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0668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530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全景 · 执行闭环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从一句话到结果：AI 执行全链路闭环，且越用越聪明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六个环节环环相扣 —— 每一次执行，都在让系统更懂你的业务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1744" y="2194560"/>
            <a:ext cx="1389888" cy="2286000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5792" y="2432304"/>
            <a:ext cx="621792" cy="62179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586" y="2569098"/>
            <a:ext cx="348204" cy="3482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6608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理解意图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3184" y="35478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听懂业务语言，识别实体与约束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36496" y="3236976"/>
            <a:ext cx="384048" cy="237744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75408" y="2194560"/>
            <a:ext cx="1389888" cy="2286000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59456" y="2432304"/>
            <a:ext cx="621792" cy="62179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250" y="2569098"/>
            <a:ext cx="348204" cy="3482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30272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规划任务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666848" y="35478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把目标拆解为可执行步骤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020160" y="3236976"/>
            <a:ext cx="384048" cy="237744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59072" y="2194560"/>
            <a:ext cx="1389888" cy="2286000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43120" y="2432304"/>
            <a:ext cx="621792" cy="62179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914" y="2569098"/>
            <a:ext cx="348204" cy="3482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13936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决策选择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50512" y="35478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按业务规则选择最优路径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903824" y="3236976"/>
            <a:ext cx="384048" cy="237744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42736" y="2194560"/>
            <a:ext cx="1389888" cy="2286000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26784" y="2432304"/>
            <a:ext cx="621792" cy="62179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578" y="2569098"/>
            <a:ext cx="348204" cy="3482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97600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执行调用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434176" y="35478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调用业务能力，稳定执行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787488" y="3236976"/>
            <a:ext cx="384048" cy="237744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226400" y="2194560"/>
            <a:ext cx="1389888" cy="2286000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610448" y="2432304"/>
            <a:ext cx="621792" cy="62179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242" y="2569098"/>
            <a:ext cx="348204" cy="3482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281264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反馈评估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317840" y="35478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结果质量自动评估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9671152" y="3236976"/>
            <a:ext cx="384048" cy="237744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110064" y="2194560"/>
            <a:ext cx="1389888" cy="2286000"/>
          </a:xfrm>
          <a:prstGeom prst="roundRect">
            <a:avLst>
              <a:gd name="adj" fmla="val 2961"/>
            </a:avLst>
          </a:prstGeom>
          <a:solidFill>
            <a:srgbClr val="FDF3E8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10494112" y="2432304"/>
            <a:ext cx="621792" cy="621792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0906" y="2569098"/>
            <a:ext cx="348204" cy="34820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164928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学习沉淀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0201504" y="35478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经验入库，越用越聪明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1965960" y="4800600"/>
            <a:ext cx="8259775" cy="54864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965960" y="4800600"/>
            <a:ext cx="8259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学习沉淀  →  下一次执行更懂你的业务（反馈闭环）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502920" y="5559552"/>
            <a:ext cx="3538728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49224" y="5724144"/>
            <a:ext cx="384048" cy="38404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715" y="5808635"/>
            <a:ext cx="215067" cy="215067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143000" y="5687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统一治理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1143000" y="59618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权限、策略、审计在所有执行上自动生效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4325112" y="5559552"/>
            <a:ext cx="3538728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4471416" y="5724144"/>
            <a:ext cx="384048" cy="38404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5907" y="5808635"/>
            <a:ext cx="215067" cy="215067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965192" y="5687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统一可观测</a:t>
            </a:r>
            <a:endParaRPr lang="en-US" sz="1300" dirty="0"/>
          </a:p>
        </p:txBody>
      </p:sp>
      <p:sp>
        <p:nvSpPr>
          <p:cNvPr id="52" name="Text 42"/>
          <p:cNvSpPr/>
          <p:nvPr/>
        </p:nvSpPr>
        <p:spPr>
          <a:xfrm>
            <a:off x="4965192" y="59618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Trace / 指标 / 日志覆盖每一次执行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8147304" y="5559552"/>
            <a:ext cx="3538728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8293608" y="5724144"/>
            <a:ext cx="384048" cy="38404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8099" y="5808635"/>
            <a:ext cx="215067" cy="215067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787384" y="5687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统一补偿</a:t>
            </a:r>
            <a:endParaRPr lang="en-US" sz="1300" dirty="0"/>
          </a:p>
        </p:txBody>
      </p:sp>
      <p:sp>
        <p:nvSpPr>
          <p:cNvPr id="57" name="Text 46"/>
          <p:cNvSpPr/>
          <p:nvPr/>
        </p:nvSpPr>
        <p:spPr>
          <a:xfrm>
            <a:off x="8787384" y="59618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失败重试、回滚由运行时统一保证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59" name="Text 48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11 / 32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08162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08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 · 设计内核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大模型 + BI 引擎双核驱动：企业问数的正确姿势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只靠大模型，结果不可控；只靠 BI，交互不自然 —— 双核协同才是企业场景的正解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40680" cy="2834640"/>
          </a:xfrm>
          <a:prstGeom prst="roundRect">
            <a:avLst>
              <a:gd name="adj" fmla="val 1452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780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大模型引擎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251960" y="2423160"/>
            <a:ext cx="134397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1960" y="2423160"/>
            <a:ext cx="1343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负责理解与表达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听懂自然语言，回答流畅自然</a:t>
            </a:r>
            <a:endParaRPr lang="en-US" sz="1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理解业务语义与对话上下文</a:t>
            </a:r>
            <a:endParaRPr lang="en-US" sz="13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局限：自由生成不可控、算数不可靠、口径难统一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45352" y="2148840"/>
            <a:ext cx="5440680" cy="2834640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9050">
            <a:solidFill>
              <a:srgbClr val="0047AB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2377440"/>
            <a:ext cx="457200" cy="457200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47802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14032" y="2395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BI 引擎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9994392" y="2423160"/>
            <a:ext cx="1343978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994392" y="2423160"/>
            <a:ext cx="1343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负责计算与校验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19672" y="30175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精确计算、口径一致、可审计</a:t>
            </a:r>
            <a:endParaRPr lang="en-US" sz="1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权限管控，数据不出域</a:t>
            </a:r>
            <a:endParaRPr lang="en-US" sz="13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局限：交互门槛高，业务人员难上手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02920" y="5230368"/>
            <a:ext cx="11185855" cy="685800"/>
          </a:xfrm>
          <a:prstGeom prst="roundRect">
            <a:avLst>
              <a:gd name="adj" fmla="val 6000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523036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双核协同 = 自然表达 × 精确计算 × 可信合规 —— 让业务人员放心提问，让数据结果经得起追问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502920" y="605332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例：问「上个月华东区退货率」→ 大模型听懂意图，BI 引擎按统一口径精确计算，大模型再组织成自然语言回答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12 / 32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3007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300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数据智能五件套 ·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业务人员一句话查数：不用写 SQL，指标口径全公司一致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是什么：以日常语言提问，系统自动解析意图、生成查询、返回可信结果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420624" cy="42062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57" y="2177369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20848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一句话查数 · 指标口径企业级统一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724912"/>
            <a:ext cx="1120775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724912"/>
            <a:ext cx="1120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经营分析会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788287" y="2724912"/>
            <a:ext cx="98806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88287" y="2724912"/>
            <a:ext cx="98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销售复盘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40939" y="2724912"/>
            <a:ext cx="98806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40939" y="2724912"/>
            <a:ext cx="98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库存盘点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093591" y="2724912"/>
            <a:ext cx="98806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93591" y="2724912"/>
            <a:ext cx="98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财务月结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246120"/>
            <a:ext cx="5989320" cy="2194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" y="3392424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传统模式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04088" y="3703320"/>
            <a:ext cx="558698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提需求 → 等 IT 排期 → 写 SQL → 各看各的口径，数字对不上（通常 2–3 天）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088" y="4434840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模式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04088" y="4745736"/>
            <a:ext cx="5586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业务人员直接提问，秒级出数；同一指标（如「收入」）财务与销售口径一致，同名不同义被根除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66560" y="2084832"/>
            <a:ext cx="4919472" cy="3355848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986016" y="2286000"/>
            <a:ext cx="2280285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86016" y="2286000"/>
            <a:ext cx="2280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 · 某制造集团财务部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86016" y="2724912"/>
            <a:ext cx="4480560" cy="566928"/>
          </a:xfrm>
          <a:prstGeom prst="roundRect">
            <a:avLst>
              <a:gd name="adj" fmla="val 7258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0" y="272491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  上个月华东区哪个品类的退货率最高？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986016" y="3401568"/>
            <a:ext cx="4480560" cy="960120"/>
          </a:xfrm>
          <a:prstGeom prst="roundRect">
            <a:avLst>
              <a:gd name="adj" fmla="val 4286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0" y="3529584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  自动识别统一口径（退货率 = 退货金额 ÷ 销售金额），秒级返回：家用电器 3.2%，居华东区首位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986016" y="45262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提数方式：找 IT → 自己问</a:t>
            </a:r>
            <a:endParaRPr lang="en-US" sz="11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口径：各查各的 → 全集团统一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2920" y="5650992"/>
            <a:ext cx="11185855" cy="896112"/>
          </a:xfrm>
          <a:prstGeom prst="roundRect">
            <a:avLst>
              <a:gd name="adj" fmla="val 4592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口径统一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77240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消除「同名不同义」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231538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05858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无需排期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4505858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随问随答，秒级出数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960157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34477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数据授权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8234477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只看权限范围内的数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13 / 32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3007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300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数据智能五件套 ·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销售额下降 12%：不只告诉你「跌了」，更告诉你「为什么」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是什么：自动定位指标波动的核心维度，量化每个因素的影响程度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420624" cy="42062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57" y="2177369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20848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从「看到问题」到「理解原因」，一步完成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724912"/>
            <a:ext cx="125349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724912"/>
            <a:ext cx="1253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月度经营复盘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21002" y="2724912"/>
            <a:ext cx="125349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1002" y="2724912"/>
            <a:ext cx="1253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销售波动分析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9084" y="2724912"/>
            <a:ext cx="125349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9084" y="2724912"/>
            <a:ext cx="1253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成本异常排查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246120"/>
            <a:ext cx="5989320" cy="2194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3392424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传统模式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088" y="3703320"/>
            <a:ext cx="558698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「为什么跌了？」开会各说各话：市场说大环境、销售说价格、财务说成本 —— 归因靠拍脑袋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4088" y="4434840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模式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04088" y="4745736"/>
            <a:ext cx="5586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系统自动拆解：客户流失 -5.2%、促销效率 -3.8%、季节性 -2.1%…… 各因素影响度量化、可下钻验证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6560" y="2084832"/>
            <a:ext cx="4919472" cy="3355848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86016" y="2286000"/>
            <a:ext cx="2014855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86016" y="2286000"/>
            <a:ext cx="2014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指标波动 · 自动归因示例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86016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销售额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86016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-12%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941832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环比上月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986016" y="3822192"/>
            <a:ext cx="178308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23960" y="3822192"/>
            <a:ext cx="1298448" cy="36576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177272" y="3822192"/>
            <a:ext cx="722376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954512" y="3822192"/>
            <a:ext cx="310896" cy="365760"/>
          </a:xfrm>
          <a:prstGeom prst="rect">
            <a:avLst/>
          </a:prstGeom>
          <a:solidFill>
            <a:srgbClr val="64748F"/>
          </a:solidFill>
          <a:ln w="12700">
            <a:solidFill>
              <a:srgbClr val="64748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86016" y="42976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客户流失 -5.2%</a:t>
            </a:r>
            <a:endParaRPr lang="en-US" sz="1150" dirty="0"/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促销效率下滑 -3.8%</a:t>
            </a:r>
            <a:endParaRPr lang="en-US" sz="1150" dirty="0"/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季节性 -2.1%</a:t>
            </a:r>
            <a:endParaRPr lang="en-US" sz="1150" dirty="0"/>
          </a:p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其他 -0.9%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986016" y="5212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案例：某零售集团月度复盘，1 天人工归因 → 10 分钟自动出结论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5650992"/>
            <a:ext cx="11185855" cy="896112"/>
          </a:xfrm>
          <a:prstGeom prst="roundRect">
            <a:avLst>
              <a:gd name="adj" fmla="val 4592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自动下钻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77240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定位波动的核心维度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231538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05858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量化影响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4505858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告别「拍脑袋」归因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960157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34477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决策聚焦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8234477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会议直接给结论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14 / 32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3007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300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数据智能五件套 · 03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提前三周预判「库存见底」：从被动响应到主动决策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是什么：基于历史数据的统计建模，输出可执行的前瞻判断 —— 不是玄学，是统计模型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420624" cy="42062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57" y="2177369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20848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基于历史数据的趋势预判，给决策留出提前量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724912"/>
            <a:ext cx="98806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724912"/>
            <a:ext cx="98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库存预警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55572" y="2724912"/>
            <a:ext cx="98806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55572" y="2724912"/>
            <a:ext cx="98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销售预测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08224" y="2724912"/>
            <a:ext cx="98806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08224" y="2724912"/>
            <a:ext cx="98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产能规划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246120"/>
            <a:ext cx="5989320" cy="2194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3392424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传统模式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088" y="3703320"/>
            <a:ext cx="558698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缺货了才补货、积压了才清仓 —— 每次都是紧急补救，损失已经发生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4088" y="4434840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模式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04088" y="4745736"/>
            <a:ext cx="5586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提前预警：按当前消耗速度，华东仓 A 产品 21 天后将低于安全库存，今日即可触发补货流程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6560" y="2084832"/>
            <a:ext cx="4919472" cy="3355848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86016" y="2286000"/>
            <a:ext cx="1749425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86016" y="2286000"/>
            <a:ext cx="17494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库存消耗 · 趋势预测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86016" y="2724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华东仓 · A 产品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986016" y="4370832"/>
            <a:ext cx="4480560" cy="0"/>
          </a:xfrm>
          <a:prstGeom prst="line">
            <a:avLst/>
          </a:prstGeom>
          <a:noFill/>
          <a:ln w="15240">
            <a:solidFill>
              <a:srgbClr val="E67E2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323576" y="42062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安全库存线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031736" y="3291840"/>
            <a:ext cx="1656893" cy="475488"/>
          </a:xfrm>
          <a:prstGeom prst="line">
            <a:avLst/>
          </a:prstGeom>
          <a:noFill/>
          <a:ln w="30480">
            <a:solidFill>
              <a:srgbClr val="0047A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88629" y="3767328"/>
            <a:ext cx="1344168" cy="393192"/>
          </a:xfrm>
          <a:prstGeom prst="line">
            <a:avLst/>
          </a:prstGeom>
          <a:noFill/>
          <a:ln w="30480">
            <a:solidFill>
              <a:srgbClr val="0047A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32797" y="4160520"/>
            <a:ext cx="1388059" cy="210312"/>
          </a:xfrm>
          <a:prstGeom prst="line">
            <a:avLst/>
          </a:prstGeom>
          <a:noFill/>
          <a:ln w="30480">
            <a:solidFill>
              <a:srgbClr val="0047A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90588" y="3250692"/>
            <a:ext cx="82296" cy="82296"/>
          </a:xfrm>
          <a:prstGeom prst="ellipse">
            <a:avLst/>
          </a:prstGeom>
          <a:solidFill>
            <a:srgbClr val="0047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47481" y="3726180"/>
            <a:ext cx="82296" cy="82296"/>
          </a:xfrm>
          <a:prstGeom prst="ellipse">
            <a:avLst/>
          </a:prstGeom>
          <a:solidFill>
            <a:srgbClr val="0047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991649" y="4119372"/>
            <a:ext cx="82296" cy="82296"/>
          </a:xfrm>
          <a:prstGeom prst="ellipse">
            <a:avLst/>
          </a:prstGeom>
          <a:solidFill>
            <a:srgbClr val="0047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379708" y="4329684"/>
            <a:ext cx="82296" cy="82296"/>
          </a:xfrm>
          <a:prstGeom prst="ellipse">
            <a:avLst/>
          </a:prstGeom>
          <a:solidFill>
            <a:srgbClr val="0047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86016" y="4626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今日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712757" y="4626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21 天后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986016" y="5138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低于安全库存，建议今日触发补货流程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02920" y="5650992"/>
            <a:ext cx="11185855" cy="896112"/>
          </a:xfrm>
          <a:prstGeom prst="roundRect">
            <a:avLst>
              <a:gd name="adj" fmla="val 4592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7240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提前 21 天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777240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预警，留出决策窗口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231538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05858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主动决策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4505858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从「救火」到「预防」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960157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34477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减少损失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8234477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缺货与积压双降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15 / 32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3007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300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数据智能五件套 · 04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输入一句话，输出一份结构完整的经营分析报告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是什么：自动提取数据、生成图表、撰写分析结论 —— 从「零」到「成品」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5148" y="2103120"/>
            <a:ext cx="1874520" cy="16916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4664" y="228600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271" y="239060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8300" y="287121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一句话需求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86588" y="31638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“生成上月经营分析报告”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06244" y="2880360"/>
            <a:ext cx="365760" cy="201168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26868" y="2103120"/>
            <a:ext cx="1874520" cy="16916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6384" y="228600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991" y="2390607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00020" y="287121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自动取数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918308" y="31638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按指标口径精准取数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37964" y="2880360"/>
            <a:ext cx="365760" cy="201168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58588" y="2103120"/>
            <a:ext cx="1874520" cy="16916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58104" y="228600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711" y="2390607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31740" y="287121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生成图表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250028" y="31638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趋势、对比、结构图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069684" y="2880360"/>
            <a:ext cx="365760" cy="201168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0308" y="2103120"/>
            <a:ext cx="1874520" cy="16916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189824" y="228600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431" y="2390607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63460" y="287121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撰写结论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581748" y="31638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异常预警 + 经营建议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401404" y="2880360"/>
            <a:ext cx="365760" cy="201168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822028" y="2103120"/>
            <a:ext cx="1874520" cy="16916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521544" y="2286000"/>
            <a:ext cx="475488" cy="475488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6151" y="2390607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95180" y="287121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成品报告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9913468" y="31638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结构完整、可溯源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02920" y="4114800"/>
            <a:ext cx="11185855" cy="13716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58952" y="4315968"/>
            <a:ext cx="2147570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58952" y="4315968"/>
            <a:ext cx="21475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 · 月度经营分析会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58952" y="4718304"/>
            <a:ext cx="106737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需求：「帮我生成上月经营分析报告」</a:t>
            </a:r>
            <a:endParaRPr lang="en-US" sz="1200" dirty="0"/>
          </a:p>
          <a:p>
            <a:pPr algn="l" indent="0" marL="0">
              <a:lnSpc>
                <a:spcPct val="128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结果：10 分钟输出完整报告 —— 收入 / 成本 / 毛利、区域与品类对比、异常预警与经营建议</a:t>
            </a:r>
            <a:endParaRPr lang="en-US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不是模板填空，是从数据到结论的自动成文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02920" y="5650992"/>
            <a:ext cx="11185855" cy="896112"/>
          </a:xfrm>
          <a:prstGeom prst="roundRect">
            <a:avLst>
              <a:gd name="adj" fmla="val 4592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77240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1-2 天 → 10 分钟</a:t>
            </a:r>
            <a:endParaRPr lang="en-US" sz="2000" dirty="0"/>
          </a:p>
        </p:txBody>
      </p:sp>
      <p:sp>
        <p:nvSpPr>
          <p:cNvPr id="41" name="Text 34"/>
          <p:cNvSpPr/>
          <p:nvPr/>
        </p:nvSpPr>
        <p:spPr>
          <a:xfrm>
            <a:off x="777240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报告产出效率跃升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4231538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505858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格式统一</a:t>
            </a:r>
            <a:endParaRPr lang="en-US" sz="2000" dirty="0"/>
          </a:p>
        </p:txBody>
      </p:sp>
      <p:sp>
        <p:nvSpPr>
          <p:cNvPr id="44" name="Text 37"/>
          <p:cNvSpPr/>
          <p:nvPr/>
        </p:nvSpPr>
        <p:spPr>
          <a:xfrm>
            <a:off x="4505858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结构规范、口径一致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7960157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8234477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结论可溯源</a:t>
            </a:r>
            <a:endParaRPr lang="en-US" sz="2000" dirty="0"/>
          </a:p>
        </p:txBody>
      </p:sp>
      <p:sp>
        <p:nvSpPr>
          <p:cNvPr id="47" name="Text 40"/>
          <p:cNvSpPr/>
          <p:nvPr/>
        </p:nvSpPr>
        <p:spPr>
          <a:xfrm>
            <a:off x="8234477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每句话都有数据出处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16 / 32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3007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300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数据智能五件套 · 05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会对话、可追问的「活看板」：让数据与决策直接对话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是什么：智能构建核心指标看板，动态更新、自动解读、可追问下钻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989320" cy="32918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传统 BI 看板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834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静态图表，只能看不能问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异常要靠人肉发现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解读靠开会猜，结论难统一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" y="4297680"/>
            <a:ext cx="54864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智策看板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" y="482803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指标动态更新，随时可追问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异常自动解读，不用人找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对话式下钻：问到原因那一层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2148840"/>
            <a:ext cx="4919472" cy="3291840"/>
          </a:xfrm>
          <a:prstGeom prst="roundRect">
            <a:avLst>
              <a:gd name="adj" fmla="val 1250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86016" y="2359152"/>
            <a:ext cx="174942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6016" y="2359152"/>
            <a:ext cx="17494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看板追问 · 对话示例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86016" y="2798064"/>
            <a:ext cx="448056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798064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  为什么华东区毛利率环比下滑？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86016" y="3474720"/>
            <a:ext cx="4480560" cy="1371600"/>
          </a:xfrm>
          <a:prstGeom prst="roundRect">
            <a:avLst>
              <a:gd name="adj" fmla="val 30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602736"/>
            <a:ext cx="4187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  主要受促销占比提升影响，其中 A 品类促销拉低约 1.2 个百分点；剔除促销影响后环比基本持平。建议关注 A 品类促销力度与毛利平衡。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86016" y="4983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看板从「展示工具」变成「决策助手」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650992"/>
            <a:ext cx="11185855" cy="896112"/>
          </a:xfrm>
          <a:prstGeom prst="roundRect">
            <a:avLst>
              <a:gd name="adj" fmla="val 4592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从展示到决策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看板会说话、可追问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31538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5858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异常秒级解读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05858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不等开会才发现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60157" y="5852160"/>
            <a:ext cx="0" cy="50292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4477" y="5779008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追问式下钻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34477" y="616305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一路问到原因层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17 / 32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24405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22244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数据智能五件套 · 全景串联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五件套串起完整链路：从「问数」到「决策」再到「行动」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不是五个孤立功能，而是一条贯穿经营决策的业务闭环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8552" y="2240280"/>
            <a:ext cx="1938528" cy="17830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1784" y="2450592"/>
            <a:ext cx="512064" cy="51206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438" y="2563246"/>
            <a:ext cx="286756" cy="286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1704" y="309067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可信问数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9992" y="34015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快速看清现状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73656" y="3063240"/>
            <a:ext cx="384048" cy="219456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12568" y="2240280"/>
            <a:ext cx="1938528" cy="17830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5800" y="2450592"/>
            <a:ext cx="512064" cy="51206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454" y="2563246"/>
            <a:ext cx="286756" cy="2867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85720" y="309067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智能归因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804008" y="34015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理解波动原因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87672" y="3063240"/>
            <a:ext cx="384048" cy="219456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26584" y="2240280"/>
            <a:ext cx="1938528" cy="17830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39816" y="2450592"/>
            <a:ext cx="512064" cy="51206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470" y="2563246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99736" y="309067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洞察预测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18024" y="34015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预判风险机会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101688" y="3063240"/>
            <a:ext cx="384048" cy="219456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540600" y="2240280"/>
            <a:ext cx="1938528" cy="17830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53832" y="2450592"/>
            <a:ext cx="512064" cy="51206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486" y="2563246"/>
            <a:ext cx="286756" cy="2867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13752" y="309067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一言成报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632040" y="34015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形成决策材料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515704" y="3063240"/>
            <a:ext cx="384048" cy="219456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954616" y="2240280"/>
            <a:ext cx="1938528" cy="17830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667848" y="2450592"/>
            <a:ext cx="512064" cy="512064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502" y="2563246"/>
            <a:ext cx="286756" cy="2867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027768" y="309067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智策看板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0046056" y="34015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持续追踪验证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02920" y="4434840"/>
            <a:ext cx="11185855" cy="1371600"/>
          </a:xfrm>
          <a:prstGeom prst="roundRect">
            <a:avLst>
              <a:gd name="adj" fmla="val 3000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22960" y="4645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一个真实工作日的经营闭环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822960" y="499262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晨会问数 → 归因定位 → 预判风险 → 一键成报 → 看板持续追踪：一条链走完「发现问题 → 理解原因 → 提前应对 → 形成决策 → 验证效果」</a:t>
            </a:r>
            <a:endParaRPr lang="en-US" sz="1350" dirty="0"/>
          </a:p>
        </p:txBody>
      </p:sp>
      <p:sp>
        <p:nvSpPr>
          <p:cNvPr id="38" name="Shape 31"/>
          <p:cNvSpPr/>
          <p:nvPr/>
        </p:nvSpPr>
        <p:spPr>
          <a:xfrm>
            <a:off x="502920" y="6035040"/>
            <a:ext cx="11185855" cy="502920"/>
          </a:xfrm>
          <a:prstGeom prst="roundRect">
            <a:avLst>
              <a:gd name="adj" fmla="val 8182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02920" y="60350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五件套叠加在既有数据底座 / BI 之上 —— 对企业现有投入是「升级」，不是「推倒重来」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18 / 32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85657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20856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平台核心 · 知识资产中心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 AI 基于企业自己的知识作答：答案有出处、可溯源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是什么：企业文档 + 业务实体图谱 双知识体系，三层检索融合，回答可引用溯源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66928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0664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双知识体系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0664" y="2743200"/>
            <a:ext cx="2514600" cy="1188720"/>
          </a:xfrm>
          <a:prstGeom prst="roundRect">
            <a:avLst>
              <a:gd name="adj" fmla="val 3462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288950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969971"/>
            <a:ext cx="204826" cy="2048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文档知识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86968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制度 / 手册 / 流程 / 报告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19856" y="2743200"/>
            <a:ext cx="2514600" cy="1188720"/>
          </a:xfrm>
          <a:prstGeom prst="roundRect">
            <a:avLst>
              <a:gd name="adj" fmla="val 3462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288950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627" y="2969971"/>
            <a:ext cx="204826" cy="2048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05072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实体图谱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56616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设备 / 供应商 / 客户 / 关系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4315968"/>
            <a:ext cx="5669280" cy="1965960"/>
          </a:xfrm>
          <a:prstGeom prst="roundRect">
            <a:avLst>
              <a:gd name="adj" fmla="val 2093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0664" y="45171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三层检索 · 融合回答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740664" y="4956048"/>
            <a:ext cx="1645920" cy="1143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0392" y="5074920"/>
            <a:ext cx="329184" cy="32918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2" y="5147340"/>
            <a:ext cx="184343" cy="18434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0392" y="54681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实体档案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50392" y="5724144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快速命中事实摘要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523744" y="4956048"/>
            <a:ext cx="1645920" cy="1143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633472" y="5074920"/>
            <a:ext cx="329184" cy="32918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892" y="5147340"/>
            <a:ext cx="184343" cy="18434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633472" y="54681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关系图谱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633472" y="5724144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多跳展开业务关系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306824" y="4956048"/>
            <a:ext cx="1645920" cy="1143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416552" y="5074920"/>
            <a:ext cx="329184" cy="329184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8972" y="5147340"/>
            <a:ext cx="184343" cy="18434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416552" y="54681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文档原文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416552" y="5724144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标准流程与细则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446520" y="2103120"/>
            <a:ext cx="5239512" cy="4178808"/>
          </a:xfrm>
          <a:prstGeom prst="roundRect">
            <a:avLst>
              <a:gd name="adj" fmla="val 985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684264" y="2322576"/>
            <a:ext cx="2280285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684264" y="2322576"/>
            <a:ext cx="2280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 · 设备维护知识问答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684264" y="2779776"/>
            <a:ext cx="4764024" cy="54864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830568" y="2779776"/>
            <a:ext cx="4471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  新员工：CNC 设备报警后应该怎么处理？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6684264" y="3438144"/>
            <a:ext cx="4764024" cy="1600200"/>
          </a:xfrm>
          <a:prstGeom prst="roundRect">
            <a:avLst>
              <a:gd name="adj" fmla="val 2571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830568" y="3566160"/>
            <a:ext cx="4471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  返回：标准处理流程（停机 → 报警代码识别 → 联系供应商 → 记录）＋ 该设备档案（型号 / 维保记录）＋ 原文出处（《设备运维手册》第 4 章）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6684264" y="5212080"/>
            <a:ext cx="4764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回答有出处：每条结论可回溯到原文</a:t>
            </a:r>
            <a:endParaRPr lang="en-US" sz="1200" dirty="0"/>
          </a:p>
          <a:p>
            <a:pPr algn="l"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知识不流失：老师傅经验沉淀为资产</a:t>
            </a:r>
            <a:endParaRPr lang="en-US" sz="12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权限贯穿：无权限域的文档/实体不可见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19 / 32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94691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946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平台核心 · 智能体编排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复杂任务自动拆解、可靠执行：断点续跑、失败重试、事务补偿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是什么：一句话任务自动规划为多步执行，可靠性由运行时统一保障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66928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331720"/>
            <a:ext cx="402336" cy="40233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602" y="2420234"/>
            <a:ext cx="225308" cy="2253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313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断点续跑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624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执行中断后从检查点恢复，不重头再来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73952" y="2148840"/>
            <a:ext cx="566928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75120" y="2331720"/>
            <a:ext cx="402336" cy="40233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634" y="2420234"/>
            <a:ext cx="225308" cy="2253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05472" y="2313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自动重试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205472" y="2624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网络抖动等瞬时故障自动重试，无需人工介入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3758184"/>
            <a:ext cx="566928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4088" y="3941064"/>
            <a:ext cx="402336" cy="40233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02" y="4029578"/>
            <a:ext cx="225308" cy="2253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922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超时熔断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34440" y="423367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单步超时或异常自动熔断，避免任务挂死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73952" y="3758184"/>
            <a:ext cx="566928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75120" y="3941064"/>
            <a:ext cx="402336" cy="40233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634" y="4029578"/>
            <a:ext cx="225308" cy="2253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05472" y="3922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事务补偿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05472" y="423367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多步失败自动回滚已执行动作，不留脏数据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46520" y="2148840"/>
            <a:ext cx="5239512" cy="2980944"/>
          </a:xfrm>
          <a:prstGeom prst="roundRect">
            <a:avLst>
              <a:gd name="adj" fmla="val 1380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684264" y="2359152"/>
            <a:ext cx="18821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684264" y="2359152"/>
            <a:ext cx="1882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 · 多系统对账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684264" y="2788920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一句话：完成本月订单、库存、财务三方对账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684264" y="3246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684264" y="3246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① 拉取订单数据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257032" y="3246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57032" y="3246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② 核对库存记录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829800" y="3246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829800" y="3246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③ 比对财务凭证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6684264" y="3749040"/>
            <a:ext cx="4764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任一步失败 → 自动重试 → 仍失败则补偿回滚，对账结论不留半成品；人工核对 3 天 → 系统 30 分钟出差异清单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502920" y="5440680"/>
            <a:ext cx="11185855" cy="1051560"/>
          </a:xfrm>
          <a:prstGeom prst="roundRect">
            <a:avLst>
              <a:gd name="adj" fmla="val 3913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68680" y="5559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长任务不用盯 · 失败不重跑 · 账务不出错</a:t>
            </a:r>
            <a:endParaRPr lang="en-US" sz="1550" dirty="0"/>
          </a:p>
        </p:txBody>
      </p:sp>
      <p:sp>
        <p:nvSpPr>
          <p:cNvPr id="39" name="Text 33"/>
          <p:cNvSpPr/>
          <p:nvPr/>
        </p:nvSpPr>
        <p:spPr>
          <a:xfrm>
            <a:off x="868680" y="59618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多步任务全自动推进，可靠性由平台兜底 —— 交付给业务的是「结果」，不是「流程」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 / 32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94691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946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平台核心 · 多模型接入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按场景自由选模型：一套平台调度所有模型，不被单一厂商绑定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是什么：统一接入多家大模型，按任务类型智能路由，模型升级不影响业务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669280" cy="15727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68296"/>
            <a:ext cx="438912" cy="43891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937" y="2464857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368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对话问答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25880" y="27340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通用对话、客服问答 —— 选均衡型模型，成本与效果兼顾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73952" y="2148840"/>
            <a:ext cx="5669280" cy="15727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93408" y="2368296"/>
            <a:ext cx="438912" cy="43891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969" y="2464857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96912" y="2368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结构化规划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296912" y="27340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任务拆解、意图识别 —— 选推理型模型，输出需稳定可控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3959352"/>
            <a:ext cx="5669280" cy="15727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2376" y="4178808"/>
            <a:ext cx="438912" cy="43891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37" y="4275369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4178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长文档理解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25880" y="45445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合同、手册、报告分析 —— 选长上下文模型，支持大文档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73952" y="3959352"/>
            <a:ext cx="5669280" cy="15727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93408" y="4178808"/>
            <a:ext cx="438912" cy="438912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969" y="4275369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96912" y="4178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代码与工具调用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296912" y="45445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生成查询、调用接口 —— 选工具调用能力强的模型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02920" y="5577840"/>
            <a:ext cx="11185855" cy="868680"/>
          </a:xfrm>
          <a:prstGeom prst="roundRect">
            <a:avLst>
              <a:gd name="adj" fmla="val 4737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" y="568756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模型升级不重构业务：切换模型只动配置</a:t>
            </a:r>
            <a:endParaRPr lang="en-US" sz="1200" dirty="0"/>
          </a:p>
          <a:p>
            <a:pPr algn="l"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成本按场景优化：简单任务不浪费大模型算力</a:t>
            </a:r>
            <a:endParaRPr lang="en-US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支持私有化部署：数据不出企业边界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006840" y="5760720"/>
            <a:ext cx="26924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006840" y="5760720"/>
            <a:ext cx="269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兼容 Ollama / 云端 API / 私有化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21 / 32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08162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08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平台核心 · 安全治理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企业级安全合规：租户隔离、分级权限、全链路审计、数据脱敏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是什么：安全不是功能插件，而是内建于运行时的默认能力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66928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2368296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688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386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租户级隔离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0664" y="293522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数据在存储层强隔离：A 部门看不到 B 部门的数据，多租户互不越界。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" y="3630168"/>
            <a:ext cx="1090613" cy="274320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3630168"/>
            <a:ext cx="1090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数据不出界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73952" y="2148840"/>
            <a:ext cx="566928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11696" y="2368296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6888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42632" y="2386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分级权限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11696" y="293522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按角色与数据范围控制「能看什么、能做什么」：查询只读、命令必经审批。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711696" y="3630168"/>
            <a:ext cx="1090613" cy="274320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11696" y="3630168"/>
            <a:ext cx="1090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权限精细化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" y="4261104"/>
            <a:ext cx="566928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40664" y="4480560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5811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4498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全链路审计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40664" y="50474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每一次 AI 执行自动留痕：谁、何时、问了什么、做了什么，可追溯可复盘。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40664" y="5742432"/>
            <a:ext cx="1090613" cy="274320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0664" y="5742432"/>
            <a:ext cx="1090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过程可追溯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473952" y="4261104"/>
            <a:ext cx="566928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711696" y="4480560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5811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42632" y="4498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数据安全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711696" y="50474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凭证加密存储、输出脱敏处理、敏感信息自动保护，防止数据外泄。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711696" y="5742432"/>
            <a:ext cx="1090613" cy="274320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711696" y="5742432"/>
            <a:ext cx="1090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信息不外泄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02920" y="6035040"/>
            <a:ext cx="11185855" cy="502920"/>
          </a:xfrm>
          <a:prstGeom prst="roundRect">
            <a:avLst>
              <a:gd name="adj" fmla="val 8182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02920" y="60350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满足等保、内审与监管留痕要求 —— 业务敢用，审计敢放行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22 / 32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94691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946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平台核心 · 自动化调度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定时任务与事件触发：让 AI 7×24 小时自动运转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是什么：把重复性分析固化为自动任务，从「人找 AI」到「AI 找人」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669280" cy="1627632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2368296"/>
            <a:ext cx="457200" cy="45720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688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386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定时调度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0664" y="289864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每日经营日报 / 每周库存预警 / 每月分析报告，到点自动执行并推送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931920"/>
            <a:ext cx="5669280" cy="1627632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0664" y="4151376"/>
            <a:ext cx="457200" cy="457200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2519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41696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事件驱动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40664" y="468172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系统报警、数据异常、审批回调 —— 事件一发生，自动归因并通知责任人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46520" y="2148840"/>
            <a:ext cx="5239512" cy="3364992"/>
          </a:xfrm>
          <a:prstGeom prst="roundRect">
            <a:avLst>
              <a:gd name="adj" fmla="val 1223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684264" y="2359152"/>
            <a:ext cx="18821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84264" y="2359152"/>
            <a:ext cx="1882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 · 自动化运营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84264" y="2834640"/>
            <a:ext cx="47640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每天 08:00：自动生成前一日经营日报，推送给管理层</a:t>
            </a:r>
            <a:endParaRPr lang="en-US" sz="1250" dirty="0"/>
          </a:p>
          <a:p>
            <a:pPr algn="l"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库存低于安全阈值：自动触发补货建议并通知采购</a:t>
            </a:r>
            <a:endParaRPr lang="en-US" sz="125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设备报警：自动归因 → 关联知识库 → 生成处置建议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684264" y="5029200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报表不再「等人要」，异常不再「等发现」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23 / 32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946910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946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开放生态 · 开发者能力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五大 SDK + 能力即插即用：伙伴三天开发一个新能力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是什么：面向开发者与伙伴的标准开发套件，能力封装、注册、上线全流程开放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084832" cy="237744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71016" y="2395728"/>
            <a:ext cx="548640" cy="54864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717" y="2516429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1089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2648" y="340156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能力开发 SDK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" y="37673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把业务逻辑封装为标准「能力」，注册即用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52344" y="2148840"/>
            <a:ext cx="2084832" cy="237744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0440" y="2395728"/>
            <a:ext cx="548640" cy="54864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2516429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43784" y="31089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Connector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862072" y="340156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连接器 SDK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898648" y="37673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对接 REST / 数据库 / MCP 等存量系统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01768" y="2148840"/>
            <a:ext cx="2084832" cy="237744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69864" y="2395728"/>
            <a:ext cx="548640" cy="548640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5" y="2516429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93208" y="31089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Runtime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111496" y="340156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运行时 SDK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148072" y="37673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让应用快速接入运行时，拿到执行能力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251192" y="2148840"/>
            <a:ext cx="2084832" cy="237744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19288" y="2395728"/>
            <a:ext cx="548640" cy="54864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989" y="2516429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42632" y="31089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Plugin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360920" y="340156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插件 SDK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397496" y="37673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沙箱化插件，安全隔离、独立发布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9500616" y="2148840"/>
            <a:ext cx="2084832" cy="237744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268712" y="2395728"/>
            <a:ext cx="548640" cy="548640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413" y="2516429"/>
            <a:ext cx="307238" cy="30723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92056" y="31089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Core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9610344" y="340156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公共能力 SDK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9646920" y="37673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审计 / 脱敏 / 配置等公共件开箱即用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02920" y="4846320"/>
            <a:ext cx="11185855" cy="1600200"/>
          </a:xfrm>
          <a:prstGeom prst="roundRect">
            <a:avLst>
              <a:gd name="adj" fmla="val 2571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22960" y="5047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伙伴生态的价值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822960" y="541324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行业伙伴把自身能力封装为「能力包」，注册即上架，全平台复用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三天一个能力：模板 + 示例 + 测试工具，开箱即开发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能力即资产：一次开发，多客户复用，边际成本趋近于零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24 / 32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08162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08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开放生态 · 系统集成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无缝对接企业存量系统：ERP、MES、政务系统一次接通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是什么：标准连接器 + MCP 协议 + 插件沙箱，不推倒重来，存量系统即插即用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11880" y="2194560"/>
            <a:ext cx="3657600" cy="1554480"/>
          </a:xfrm>
          <a:prstGeom prst="roundRect">
            <a:avLst>
              <a:gd name="adj" fmla="val 2647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2450592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0807" y="2555199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0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运行时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79476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统一接入 · 统一治理 · 统一审计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977640"/>
            <a:ext cx="5669280" cy="1207008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2376" y="4160520"/>
            <a:ext cx="402336" cy="40233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90" y="4249034"/>
            <a:ext cx="225308" cy="2253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52728" y="4142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REST 连接器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252728" y="44531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对接 API 类系统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73952" y="3977640"/>
            <a:ext cx="5669280" cy="1207008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693408" y="4160520"/>
            <a:ext cx="402336" cy="40233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922" y="4249034"/>
            <a:ext cx="225308" cy="2253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23760" y="4142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数据库连接器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223760" y="44531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直连业务库表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02920" y="5385816"/>
            <a:ext cx="5669280" cy="1207008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22376" y="5568696"/>
            <a:ext cx="402336" cy="40233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90" y="5657210"/>
            <a:ext cx="225308" cy="2253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52728" y="5550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MCP 协议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252728" y="58613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MCP 生态即插即用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73952" y="5385816"/>
            <a:ext cx="5669280" cy="1207008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693408" y="5568696"/>
            <a:ext cx="402336" cy="40233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922" y="5657210"/>
            <a:ext cx="225308" cy="2253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23760" y="5550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插件沙箱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223760" y="58613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隔离执行第三方插件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02920" y="5779008"/>
            <a:ext cx="11185855" cy="658368"/>
          </a:xfrm>
          <a:prstGeom prst="roundRect">
            <a:avLst>
              <a:gd name="adj" fmla="val 6250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02920" y="577900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典型接入对象：ERP / SAP / MES / 数据库 / 政务平台 / 各类 SaaS —— 一次接通，长期复用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25 / 32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08162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08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开放生态 · 持续进化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全程可观测 + 反馈学习：系统越用越懂你的业务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是什么：每次执行全程留痕，结果反馈进入学习机制，闭环驱动能力进化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669280" cy="30175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全程可观测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" y="2880360"/>
            <a:ext cx="384048" cy="38404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443" y="2964851"/>
            <a:ext cx="215067" cy="2150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Trace 链路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8016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一次任务的每一步执行路径全程可见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" y="3593592"/>
            <a:ext cx="384048" cy="38404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43" y="3678083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指标与日志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280160" y="3867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执行耗时、成功率、失败原因自动采集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58952" y="4306824"/>
            <a:ext cx="384048" cy="38404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3" y="4391315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4306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行为留痕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280160" y="45811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做了什么、为什么这么做，可解释可复盘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46520" y="2148840"/>
            <a:ext cx="5239512" cy="3017520"/>
          </a:xfrm>
          <a:prstGeom prst="roundRect">
            <a:avLst>
              <a:gd name="adj" fmla="val 1364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702552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反馈学习闭环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702552" y="2880360"/>
            <a:ext cx="2377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30568" y="2990088"/>
            <a:ext cx="347472" cy="347472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012" y="3066532"/>
            <a:ext cx="194584" cy="1945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51192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执行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830568" y="33558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任务完成并产出结果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217152" y="2880360"/>
            <a:ext cx="2377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345168" y="2990088"/>
            <a:ext cx="347472" cy="347472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1612" y="3066532"/>
            <a:ext cx="194584" cy="1945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65792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反馈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345168" y="33558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用户评价 + 结果质量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1576304" y="3172968"/>
            <a:ext cx="274320" cy="182880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702552" y="3931920"/>
            <a:ext cx="2377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830568" y="4041648"/>
            <a:ext cx="347472" cy="347472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7012" y="4118092"/>
            <a:ext cx="194584" cy="1945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51192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评估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830568" y="44074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自动评估效果好坏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6720840" y="3694176"/>
            <a:ext cx="274320" cy="182880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9217152" y="3931920"/>
            <a:ext cx="2377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9345168" y="4041648"/>
            <a:ext cx="347472" cy="347472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1612" y="4118092"/>
            <a:ext cx="194584" cy="19458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765792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沉淀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9345168" y="44074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经验写入记忆与知识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11576304" y="4224528"/>
            <a:ext cx="274320" cy="182880"/>
          </a:xfrm>
          <a:prstGeom prst="chevron">
            <a:avLst/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702552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 100 次执行，比第 1 次更懂你的业务</a:t>
            </a:r>
            <a:endParaRPr lang="en-US" sz="1300" dirty="0"/>
          </a:p>
        </p:txBody>
      </p:sp>
      <p:sp>
        <p:nvSpPr>
          <p:cNvPr id="46" name="Shape 37"/>
          <p:cNvSpPr/>
          <p:nvPr/>
        </p:nvSpPr>
        <p:spPr>
          <a:xfrm>
            <a:off x="502920" y="5486400"/>
            <a:ext cx="11185855" cy="960120"/>
          </a:xfrm>
          <a:prstGeom prst="roundRect">
            <a:avLst>
              <a:gd name="adj" fmla="val 4286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502920" y="5486400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每一次执行都在沉淀：从「能用」到「好用」，从「通用」到「懂你」</a:t>
            </a:r>
            <a:endParaRPr lang="en-US" sz="1500" dirty="0"/>
          </a:p>
        </p:txBody>
      </p:sp>
      <p:sp>
        <p:nvSpPr>
          <p:cNvPr id="48" name="Text 3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26 / 32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27237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20272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行业落地 · 工业制造 ①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供应链三场景：把人工 Excel 拉锯战变成自动决策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 —— 面向制造业供应链的三大高频场景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538728" cy="397764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22576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983" y="2427183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库存调拨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" y="3328416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多仓库存余量动态变化，人工协调调拨慢、靠经验拍脑袋。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2376" y="4160520"/>
            <a:ext cx="3108960" cy="123444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4553712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系统自动分析各仓余量、在途与需求，给出调拨建议并生成单据，决策从 1 天缩短到 10 分钟。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2376" y="5577840"/>
            <a:ext cx="1690688" cy="310896"/>
          </a:xfrm>
          <a:prstGeom prst="roundRect">
            <a:avLst>
              <a:gd name="adj" fmla="val 50000"/>
            </a:avLst>
          </a:prstGeom>
          <a:solidFill>
            <a:srgbClr val="FDF3E8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" y="5577840"/>
            <a:ext cx="1690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调拨更快 · 缺货更少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25112" y="2103120"/>
            <a:ext cx="3538728" cy="397764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44568" y="2322576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75" y="2427183"/>
            <a:ext cx="266273" cy="26627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44568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多系统对账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544568" y="3328416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订单、库存、财务多系统核对靠人工 Excel，错漏难查。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44568" y="4160520"/>
            <a:ext cx="3108960" cy="123444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90872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690872" y="4553712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自动拉取三方数据比对差异，输出差异清单并自动归因，对账从 3 天缩短到 30 分钟。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44568" y="5577840"/>
            <a:ext cx="1804035" cy="310896"/>
          </a:xfrm>
          <a:prstGeom prst="roundRect">
            <a:avLst>
              <a:gd name="adj" fmla="val 50000"/>
            </a:avLst>
          </a:prstGeom>
          <a:solidFill>
            <a:srgbClr val="FDF3E8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44568" y="5577840"/>
            <a:ext cx="1804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对账 3 天 → 30 分钟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147304" y="2103120"/>
            <a:ext cx="3538728" cy="397764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66760" y="2322576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367" y="2427183"/>
            <a:ext cx="266273" cy="266273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6676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物流改派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366760" y="3328416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运输异常（延迟 / 车辆故障）响应慢，客户体验受损。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8366760" y="4160520"/>
            <a:ext cx="3108960" cy="123444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13064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513064" y="4553712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异常自动识别 → 智能推荐改派方案 → 自动通知客户，响应从小时级缩短到分钟级。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366760" y="5577840"/>
            <a:ext cx="1744028" cy="310896"/>
          </a:xfrm>
          <a:prstGeom prst="roundRect">
            <a:avLst>
              <a:gd name="adj" fmla="val 50000"/>
            </a:avLst>
          </a:prstGeom>
          <a:solidFill>
            <a:srgbClr val="FDF3E8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366760" y="5577840"/>
            <a:ext cx="1744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响应小时级 → 分钟级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02920" y="6144768"/>
            <a:ext cx="11185855" cy="384048"/>
          </a:xfrm>
          <a:prstGeom prst="roundRect">
            <a:avLst>
              <a:gd name="adj" fmla="val 10714"/>
            </a:avLst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02920" y="614476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把供应链里重复、易错、耗人的环节交给 AI，让人聚焦在异常与决策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27 / 32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27237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20272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行业落地 · 工业制造 ②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预测性维护与产销协同：设备故障前预警，计划与销售同频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 —— 生产运营两大高价值场景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669280" cy="3931920"/>
          </a:xfrm>
          <a:prstGeom prst="roundRect">
            <a:avLst>
              <a:gd name="adj" fmla="val 1047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2322576"/>
            <a:ext cx="493776" cy="49377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295" y="2431207"/>
            <a:ext cx="276515" cy="2765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340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预测性维护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40664" y="3017520"/>
            <a:ext cx="963930" cy="274320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" y="3017520"/>
            <a:ext cx="963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0664" y="340156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设备非计划停机损失巨大，传统「坏了再修」只能被动救火。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" y="4224528"/>
            <a:ext cx="5193792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落地效果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0664" y="46634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基于设备运行数据预测故障窗口，提前安排检修与备件准备，把非计划停机变成计划内检修。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0664" y="5596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价值  非计划停机显著减少 · 备件提前准备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73952" y="2103120"/>
            <a:ext cx="5669280" cy="3931920"/>
          </a:xfrm>
          <a:prstGeom prst="roundRect">
            <a:avLst>
              <a:gd name="adj" fmla="val 1047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11696" y="2322576"/>
            <a:ext cx="493776" cy="49377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327" y="2431207"/>
            <a:ext cx="276515" cy="27651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42632" y="2340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产销协同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711696" y="3017520"/>
            <a:ext cx="963930" cy="274320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11696" y="3017520"/>
            <a:ext cx="963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客户实践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711696" y="340156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销售预测与产能计划脱节：要么缺货丢单，要么积压压资金。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711696" y="4224528"/>
            <a:ext cx="5193792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11696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落地效果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711696" y="46634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销售预测与产能、物料计划自动联动，计划随市场变化动态调整，供需实时对齐。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711696" y="5596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价值  计划响应加快 · 库存周转提升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28 / 32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0668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530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行业落地 · 政务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政务服务：让群众少跑腿，让材料少返工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示例场景 —— 基于平台能力构建，具体效果以实际项目为准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38728" cy="356616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7744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983" y="248204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政策咨询秒答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" y="340156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政策文件多、更新快，群众高频问题重复咨询，窗口压力大。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22376" y="4261104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知识库承载政策原文，高频问题秒级自动答复，人工专注疑难件。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" y="5285232"/>
            <a:ext cx="2070735" cy="310896"/>
          </a:xfrm>
          <a:prstGeom prst="roundRect">
            <a:avLst>
              <a:gd name="adj" fmla="val 50000"/>
            </a:avLst>
          </a:prstGeom>
          <a:solidFill>
            <a:srgbClr val="FDF3E8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" y="5285232"/>
            <a:ext cx="2070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应答及时率↑ · 窗口压力↓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25112" y="2148840"/>
            <a:ext cx="3538728" cy="356616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44568" y="237744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75" y="2482047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44568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公文与材料辅助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44568" y="340156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拟稿耗时、格式易错、要点难提炼，材料反复返工。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44568" y="4261104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辅助拟稿、自动格式校验、要点提取，材料质量与效率双提升。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44568" y="5285232"/>
            <a:ext cx="1690688" cy="310896"/>
          </a:xfrm>
          <a:prstGeom prst="roundRect">
            <a:avLst>
              <a:gd name="adj" fmla="val 50000"/>
            </a:avLst>
          </a:prstGeom>
          <a:solidFill>
            <a:srgbClr val="FDF3E8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44568" y="5285232"/>
            <a:ext cx="1690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返工减少 · 拟稿提效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47304" y="2148840"/>
            <a:ext cx="3538728" cy="356616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66760" y="237744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367" y="2482047"/>
            <a:ext cx="266273" cy="26627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6676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热线工单智能分派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366760" y="340156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工单人工分类派单，语义复杂易派错，处置时效受影响。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366760" y="4261104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语义识别自动分类、匹配责任部门，工单直达处置人。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366760" y="5285232"/>
            <a:ext cx="1944053" cy="310896"/>
          </a:xfrm>
          <a:prstGeom prst="roundRect">
            <a:avLst>
              <a:gd name="adj" fmla="val 50000"/>
            </a:avLst>
          </a:prstGeom>
          <a:solidFill>
            <a:srgbClr val="FDF3E8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366760" y="5285232"/>
            <a:ext cx="1944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派单准确率↑ · 处置更快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02920" y="5989320"/>
            <a:ext cx="11185855" cy="548640"/>
          </a:xfrm>
          <a:prstGeom prst="roundRect">
            <a:avLst>
              <a:gd name="adj" fmla="val 75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920" y="59893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示例场景：以上场景基于平台通用能力构建，可按政务客户实际业务定制落地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29 / 32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0668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530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行业落地 · 交通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交通运营：路网监测、出行服务、运营分析一屏掌握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示例场景 —— 基于平台能力构建，具体效果以实际项目为准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38728" cy="356616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7744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983" y="248204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路网运行监测问答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" y="340156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拥堵、事故信息分散，管理者难以及时掌握原因。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22376" y="4261104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实时路况问答 + 拥堵 / 事故自动归因，指挥调度有据可依。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" y="5285232"/>
            <a:ext cx="1944053" cy="310896"/>
          </a:xfrm>
          <a:prstGeom prst="roundRect">
            <a:avLst>
              <a:gd name="adj" fmla="val 50000"/>
            </a:avLst>
          </a:prstGeom>
          <a:solidFill>
            <a:srgbClr val="FDF3E8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" y="5285232"/>
            <a:ext cx="1944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掌握更及时 · 调度更精准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25112" y="2148840"/>
            <a:ext cx="3538728" cy="356616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44568" y="237744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75" y="2482047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44568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出行信息服务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44568" y="340156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公交地铁信息查询量大，人工客服压力大。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44568" y="4261104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实时班次、换乘方案自然语言问答，多渠道自动应答。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44568" y="5285232"/>
            <a:ext cx="1930718" cy="310896"/>
          </a:xfrm>
          <a:prstGeom prst="roundRect">
            <a:avLst>
              <a:gd name="adj" fmla="val 50000"/>
            </a:avLst>
          </a:prstGeom>
          <a:solidFill>
            <a:srgbClr val="FDF3E8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44568" y="5285232"/>
            <a:ext cx="19307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服务 7×24 · 咨询自助化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47304" y="2148840"/>
            <a:ext cx="3538728" cy="356616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66760" y="237744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367" y="2482047"/>
            <a:ext cx="266273" cy="26627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6676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运营指标归因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366760" y="340156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客流波动原因难定位，运营决策靠经验。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366760" y="4261104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客流、准点率等指标自动归因，量化各因素影响程度。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366760" y="5285232"/>
            <a:ext cx="1944053" cy="310896"/>
          </a:xfrm>
          <a:prstGeom prst="roundRect">
            <a:avLst>
              <a:gd name="adj" fmla="val 50000"/>
            </a:avLst>
          </a:prstGeom>
          <a:solidFill>
            <a:srgbClr val="FDF3E8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366760" y="5285232"/>
            <a:ext cx="1944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归因自动化 · 决策有依据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02920" y="5989320"/>
            <a:ext cx="11185855" cy="548640"/>
          </a:xfrm>
          <a:prstGeom prst="roundRect">
            <a:avLst>
              <a:gd name="adj" fmla="val 75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920" y="59893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示例场景：以上场景基于平台通用能力构建，可按交通客户实际业务定制落地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30 / 32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08162" cy="292608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808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合作共赢 · 伙伴模式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三种合作方式：让伙伴赚到钱、学得会、卖得动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按资源禀赋选择合作方式，我们提供全流程支持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38728" cy="30175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37744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983" y="248204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渠道代理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" y="33832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适合：有客户资源、缺 AI 产品的伙伴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2376" y="382219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产品转售 + 实施服务分成；提供标准产品、报价与售前支持。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" y="4791456"/>
            <a:ext cx="1090613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" y="4791456"/>
            <a:ext cx="10906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转售与分成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25112" y="2148840"/>
            <a:ext cx="3538728" cy="30175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44568" y="2377440"/>
            <a:ext cx="475488" cy="475488"/>
          </a:xfrm>
          <a:prstGeom prst="ellipse">
            <a:avLst/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75" y="2482047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44568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联合方案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44568" y="33832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适合：深耕行业、有交付能力的集成商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44568" y="382219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行业解决方案共创、联合投标；平台能力 + 行业 Know-how。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44568" y="4791456"/>
            <a:ext cx="963930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44568" y="4791456"/>
            <a:ext cx="963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联合投标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47304" y="2148840"/>
            <a:ext cx="3538728" cy="30175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52">
                <a:alpha val="13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66760" y="2377440"/>
            <a:ext cx="475488" cy="475488"/>
          </a:xfrm>
          <a:prstGeom prst="ellipse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367" y="2482047"/>
            <a:ext cx="266273" cy="26627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6676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能力共建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366760" y="33832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适合：有行业经验的开发者 / ISV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366760" y="382219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4D6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基于 SDK 开发行业能力包，注册上架、全平台复用、共享收益。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366760" y="4791456"/>
            <a:ext cx="963930" cy="292608"/>
          </a:xfrm>
          <a:prstGeom prst="roundRect">
            <a:avLst>
              <a:gd name="adj" fmla="val 50000"/>
            </a:avLst>
          </a:prstGeom>
          <a:solidFill>
            <a:srgbClr val="E7EFFB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366760" y="4791456"/>
            <a:ext cx="963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收益共享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02920" y="5394960"/>
            <a:ext cx="11185855" cy="1051560"/>
          </a:xfrm>
          <a:prstGeom prst="roundRect">
            <a:avLst>
              <a:gd name="adj" fmla="val 3913"/>
            </a:avLst>
          </a:prstGeom>
          <a:solidFill>
            <a:srgbClr val="E7EFFB"/>
          </a:solidFill>
          <a:ln w="12700">
            <a:solidFill>
              <a:srgbClr val="E7EFF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77240" y="55412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2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伙伴全流程支持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777240" y="5943600"/>
            <a:ext cx="112077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77240" y="5943600"/>
            <a:ext cx="1120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培训与认证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3291840" y="5943600"/>
            <a:ext cx="138620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291840" y="5943600"/>
            <a:ext cx="1386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样板案例与演示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5806440" y="5943600"/>
            <a:ext cx="125349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806440" y="5943600"/>
            <a:ext cx="12534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联合市场活动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321040" y="5943600"/>
            <a:ext cx="138620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21040" y="5943600"/>
            <a:ext cx="1386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0047A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技术支持与升级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8854135" y="554126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550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欢迎洽谈区域合作与联合方案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企业级 AI 操作系统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31 / 32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0047AB">
              <a:alpha val="12000"/>
            </a:srgbClr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让每一家企业，都能把 AI 用起来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可信 · 可控 · 可落地 —— EARP 企业级 AI 操作系统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703320" cy="1600200"/>
          </a:xfrm>
          <a:prstGeom prst="roundRect">
            <a:avLst>
              <a:gd name="adj" fmla="val 2571"/>
            </a:avLst>
          </a:prstGeom>
          <a:solidFill>
            <a:srgbClr val="133A78"/>
          </a:solidFill>
          <a:ln w="12700">
            <a:solidFill>
              <a:srgbClr val="3A5A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0664" y="3035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试点验证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0664" y="3401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2–4 周 POC：选定一个高价值场景，快速出结果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78808" y="2788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62272" y="2377440"/>
            <a:ext cx="3703320" cy="1600200"/>
          </a:xfrm>
          <a:prstGeom prst="roundRect">
            <a:avLst>
              <a:gd name="adj" fmla="val 2571"/>
            </a:avLst>
          </a:prstGeom>
          <a:solidFill>
            <a:srgbClr val="133A78"/>
          </a:solidFill>
          <a:ln w="12700">
            <a:solidFill>
              <a:srgbClr val="3A5A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0016" y="3035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核心推广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3401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核心场景正式上线，沉淀标准交付方法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788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421624" y="2377440"/>
            <a:ext cx="3703320" cy="1600200"/>
          </a:xfrm>
          <a:prstGeom prst="roundRect">
            <a:avLst>
              <a:gd name="adj" fmla="val 2571"/>
            </a:avLst>
          </a:prstGeom>
          <a:solidFill>
            <a:srgbClr val="133A78"/>
          </a:solidFill>
          <a:ln w="12700">
            <a:solidFill>
              <a:srgbClr val="3A5A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9368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67E2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59368" y="3035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规模化复制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59368" y="3401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全组织、多场景推广，AI 融入日常经营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11185855" cy="1463040"/>
          </a:xfrm>
          <a:prstGeom prst="roundRect">
            <a:avLst>
              <a:gd name="adj" fmla="val 2813"/>
            </a:avLst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联系我们 · 开启企业 AI 之旅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513892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联系电话：138-0000-0000（示例）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5376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邮箱：contact@earp.example.com（示例）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6144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官网：www.earp.example.com（示例）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100" kern="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EARP · Enterprise AI Runtime Platform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957255" y="502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8F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EARP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EARP 企业级 AI 操作系统 · 产品介绍</dc:title>
  <dc:subject>PptxGenJS Presentation</dc:subject>
  <dc:creator>EARP Team</dc:creator>
  <cp:lastModifiedBy>EARP Team</cp:lastModifiedBy>
  <cp:revision>1</cp:revision>
  <dcterms:created xsi:type="dcterms:W3CDTF">2026-08-17T11:53:46Z</dcterms:created>
  <dcterms:modified xsi:type="dcterms:W3CDTF">2026-08-17T11:53:46Z</dcterms:modified>
</cp:coreProperties>
</file>